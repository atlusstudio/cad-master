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8" r:id="rId9"/>
    <p:sldId id="267" r:id="rId10"/>
    <p:sldId id="261" r:id="rId11"/>
    <p:sldId id="262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-42-36"/>
          <p:cNvSpPr>
            <a:spLocks noGrp="1"/>
          </p:cNvSpPr>
          <p:nvPr/>
        </p:nvSpPr>
        <p:spPr>
          <a:xfrm>
            <a:off x="400050" y="342900"/>
            <a:ext cx="609600" cy="762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" name="text-42-64"/>
          <p:cNvSpPr>
            <a:spLocks noGrp="1"/>
          </p:cNvSpPr>
          <p:nvPr/>
        </p:nvSpPr>
        <p:spPr>
          <a:xfrm>
            <a:off x="400050" y="609600"/>
            <a:ext cx="5048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阶段成果与扩展方案</a:t>
            </a:r>
          </a:p>
        </p:txBody>
      </p:sp>
      <p:sp>
        <p:nvSpPr>
          <p:cNvPr id="3" name="text-42-172"/>
          <p:cNvSpPr>
            <a:spLocks noGrp="1"/>
          </p:cNvSpPr>
          <p:nvPr/>
        </p:nvSpPr>
        <p:spPr>
          <a:xfrm>
            <a:off x="400050" y="1638300"/>
            <a:ext cx="9525000" cy="219075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l">
              <a:defRPr sz="57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洁净室彩钢板
AI 智能排版</a:t>
            </a:r>
          </a:p>
        </p:txBody>
      </p:sp>
      <p:sp>
        <p:nvSpPr>
          <p:cNvPr id="4" name="rect-42-462"/>
          <p:cNvSpPr>
            <a:spLocks noGrp="1"/>
          </p:cNvSpPr>
          <p:nvPr/>
        </p:nvSpPr>
        <p:spPr>
          <a:xfrm>
            <a:off x="400050" y="4400550"/>
            <a:ext cx="79629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5" name="text-42-492"/>
          <p:cNvSpPr>
            <a:spLocks noGrp="1"/>
          </p:cNvSpPr>
          <p:nvPr/>
        </p:nvSpPr>
        <p:spPr>
          <a:xfrm>
            <a:off x="400050" y="4686300"/>
            <a:ext cx="89535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从单算法墙板排版闭环，迈向墙顶协同与多方案智能推荐</a:t>
            </a:r>
          </a:p>
        </p:txBody>
      </p:sp>
      <p:sp>
        <p:nvSpPr>
          <p:cNvPr id="6" name="text-42-610"/>
          <p:cNvSpPr>
            <a:spLocks noGrp="1"/>
          </p:cNvSpPr>
          <p:nvPr/>
        </p:nvSpPr>
        <p:spPr>
          <a:xfrm>
            <a:off x="400050" y="5810250"/>
            <a:ext cx="4000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技术方案评审｜2026.07.21</a:t>
            </a:r>
          </a:p>
        </p:txBody>
      </p:sp>
      <p:sp>
        <p:nvSpPr>
          <p:cNvPr id="7" name="rect-1088-36"/>
          <p:cNvSpPr>
            <a:spLocks noGrp="1"/>
          </p:cNvSpPr>
          <p:nvPr/>
        </p:nvSpPr>
        <p:spPr>
          <a:xfrm>
            <a:off x="10363200" y="342900"/>
            <a:ext cx="1428750" cy="5562600"/>
          </a:xfrm>
          <a:prstGeom prst="rect">
            <a:avLst/>
          </a:prstGeom>
          <a:solidFill>
            <a:srgbClr val="F0F7FF"/>
          </a:solidFill>
          <a:ln w="0">
            <a:solidFill>
              <a:srgbClr val="F0F7FF"/>
            </a:solidFill>
            <a:prstDash val="solid"/>
          </a:ln>
        </p:spPr>
      </p:sp>
      <p:sp>
        <p:nvSpPr>
          <p:cNvPr id="8" name="text-1112-82"/>
          <p:cNvSpPr>
            <a:spLocks noGrp="1"/>
          </p:cNvSpPr>
          <p:nvPr/>
        </p:nvSpPr>
        <p:spPr>
          <a:xfrm>
            <a:off x="10591800" y="781050"/>
            <a:ext cx="9715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CAD</a:t>
            </a: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0744200" y="1485900"/>
            <a:ext cx="685800" cy="286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</a:ln>
        </p:spPr>
      </p:cxnSp>
      <p:sp>
        <p:nvSpPr>
          <p:cNvPr id="10" name="text-1112-194"/>
          <p:cNvSpPr>
            <a:spLocks noGrp="1"/>
          </p:cNvSpPr>
          <p:nvPr/>
        </p:nvSpPr>
        <p:spPr>
          <a:xfrm>
            <a:off x="10591800" y="1847850"/>
            <a:ext cx="971550" cy="2667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识别
排板
标注
清单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-42-30"/>
          <p:cNvSpPr>
            <a:spLocks noGrp="1"/>
          </p:cNvSpPr>
          <p:nvPr/>
        </p:nvSpPr>
        <p:spPr>
          <a:xfrm>
            <a:off x="400050" y="285750"/>
            <a:ext cx="514350" cy="666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" name="title-2"/>
          <p:cNvSpPr>
            <a:spLocks noGrp="1"/>
          </p:cNvSpPr>
          <p:nvPr/>
        </p:nvSpPr>
        <p:spPr>
          <a:xfrm>
            <a:off x="400050" y="476250"/>
            <a:ext cx="106680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墙板自动排版的最小闭环已经跑通</a:t>
            </a: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400050" y="6257925"/>
            <a:ext cx="11391900" cy="286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4" name="text-42-670"/>
          <p:cNvSpPr>
            <a:spLocks noGrp="1"/>
          </p:cNvSpPr>
          <p:nvPr/>
        </p:nvSpPr>
        <p:spPr>
          <a:xfrm>
            <a:off x="400050" y="6381750"/>
            <a:ext cx="4953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基于当前 python2 样例与阶段实现</a:t>
            </a:r>
          </a:p>
        </p:txBody>
      </p:sp>
      <p:sp>
        <p:nvSpPr>
          <p:cNvPr id="5" name="text-42-142"/>
          <p:cNvSpPr>
            <a:spLocks noGrp="1"/>
          </p:cNvSpPr>
          <p:nvPr/>
        </p:nvSpPr>
        <p:spPr>
          <a:xfrm>
            <a:off x="400050" y="1352550"/>
            <a:ext cx="11144250" cy="876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当前版本已经能把一张 DWG/DXF 转换为</a:t>
            </a:r>
            <a:r>
              <a:rPr lang="zh-CN"/>
              <a:t>初步的</a:t>
            </a:r>
            <a:r>
              <a:t>墙体识别、排板标注和材料清单。</a:t>
            </a:r>
          </a:p>
        </p:txBody>
      </p:sp>
      <p:sp>
        <p:nvSpPr>
          <p:cNvPr id="6" name="rect-42-280"/>
          <p:cNvSpPr>
            <a:spLocks noGrp="1"/>
          </p:cNvSpPr>
          <p:nvPr/>
        </p:nvSpPr>
        <p:spPr>
          <a:xfrm>
            <a:off x="400050" y="2493010"/>
            <a:ext cx="3429000" cy="278130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7" name="rect-460-280"/>
          <p:cNvSpPr>
            <a:spLocks noGrp="1"/>
          </p:cNvSpPr>
          <p:nvPr/>
        </p:nvSpPr>
        <p:spPr>
          <a:xfrm>
            <a:off x="4381500" y="2493010"/>
            <a:ext cx="3429000" cy="278130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8" name="rect-878-280"/>
          <p:cNvSpPr>
            <a:spLocks noGrp="1"/>
          </p:cNvSpPr>
          <p:nvPr/>
        </p:nvSpPr>
        <p:spPr>
          <a:xfrm>
            <a:off x="8362950" y="2493010"/>
            <a:ext cx="3429000" cy="2781300"/>
          </a:xfrm>
          <a:prstGeom prst="rect">
            <a:avLst/>
          </a:prstGeom>
          <a:solidFill>
            <a:srgbClr val="F0F7FF"/>
          </a:solidFill>
          <a:ln w="0">
            <a:solidFill>
              <a:srgbClr val="F0F7FF"/>
            </a:solidFill>
            <a:prstDash val="solid"/>
          </a:ln>
        </p:spPr>
      </p:sp>
      <p:sp>
        <p:nvSpPr>
          <p:cNvPr id="9" name="text-70-312"/>
          <p:cNvSpPr>
            <a:spLocks noGrp="1"/>
          </p:cNvSpPr>
          <p:nvPr/>
        </p:nvSpPr>
        <p:spPr>
          <a:xfrm>
            <a:off x="666750" y="2797810"/>
            <a:ext cx="2857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已完成</a:t>
            </a:r>
          </a:p>
        </p:txBody>
      </p:sp>
      <p:sp>
        <p:nvSpPr>
          <p:cNvPr id="10" name="text-70-372"/>
          <p:cNvSpPr>
            <a:spLocks noGrp="1"/>
          </p:cNvSpPr>
          <p:nvPr/>
        </p:nvSpPr>
        <p:spPr>
          <a:xfrm>
            <a:off x="666750" y="3369310"/>
            <a:ext cx="2857500" cy="114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单 CAD
墙板排版闭环</a:t>
            </a:r>
          </a:p>
        </p:txBody>
      </p:sp>
      <p:sp>
        <p:nvSpPr>
          <p:cNvPr id="11" name="text-488-312"/>
          <p:cNvSpPr>
            <a:spLocks noGrp="1"/>
          </p:cNvSpPr>
          <p:nvPr/>
        </p:nvSpPr>
        <p:spPr>
          <a:xfrm>
            <a:off x="4648200" y="2797810"/>
            <a:ext cx="2857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可验证</a:t>
            </a:r>
          </a:p>
        </p:txBody>
      </p:sp>
      <p:sp>
        <p:nvSpPr>
          <p:cNvPr id="12" name="text-488-372"/>
          <p:cNvSpPr>
            <a:spLocks noGrp="1"/>
          </p:cNvSpPr>
          <p:nvPr/>
        </p:nvSpPr>
        <p:spPr>
          <a:xfrm>
            <a:off x="4648200" y="3369310"/>
            <a:ext cx="2857500" cy="114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DXF</a:t>
            </a:r>
          </a:p>
          <a:p>
            <a:pPr algn="l">
              <a:defRPr sz="315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rPr lang="zh-CN"/>
              <a:t>材料</a:t>
            </a:r>
            <a:r>
              <a:t>清单</a:t>
            </a:r>
          </a:p>
        </p:txBody>
      </p:sp>
      <p:sp>
        <p:nvSpPr>
          <p:cNvPr id="13" name="text-906-312"/>
          <p:cNvSpPr>
            <a:spLocks noGrp="1"/>
          </p:cNvSpPr>
          <p:nvPr/>
        </p:nvSpPr>
        <p:spPr>
          <a:xfrm>
            <a:off x="8629650" y="2797810"/>
            <a:ext cx="2857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下一步</a:t>
            </a:r>
          </a:p>
        </p:txBody>
      </p:sp>
      <p:sp>
        <p:nvSpPr>
          <p:cNvPr id="14" name="text-906-372"/>
          <p:cNvSpPr>
            <a:spLocks noGrp="1"/>
          </p:cNvSpPr>
          <p:nvPr/>
        </p:nvSpPr>
        <p:spPr>
          <a:xfrm>
            <a:off x="8629650" y="3369310"/>
            <a:ext cx="2857500" cy="15176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rPr lang="zh-CN"/>
              <a:t>墙体识别优化</a:t>
            </a:r>
            <a:endParaRPr lang="zh-CN"/>
          </a:p>
          <a:p>
            <a:pPr algn="l">
              <a:defRPr sz="31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多算法候选
AI 评分推荐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-42-30"/>
          <p:cNvSpPr>
            <a:spLocks noGrp="1"/>
          </p:cNvSpPr>
          <p:nvPr/>
        </p:nvSpPr>
        <p:spPr>
          <a:xfrm>
            <a:off x="400050" y="285750"/>
            <a:ext cx="514350" cy="666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" name="title-3"/>
          <p:cNvSpPr>
            <a:spLocks noGrp="1"/>
          </p:cNvSpPr>
          <p:nvPr/>
        </p:nvSpPr>
        <p:spPr>
          <a:xfrm>
            <a:off x="400050" y="476250"/>
            <a:ext cx="106680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当前已实现：单 CAD 到可复核排板成果</a:t>
            </a: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400050" y="6257925"/>
            <a:ext cx="11391900" cy="286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4" name="text-42-670"/>
          <p:cNvSpPr>
            <a:spLocks noGrp="1"/>
          </p:cNvSpPr>
          <p:nvPr/>
        </p:nvSpPr>
        <p:spPr>
          <a:xfrm>
            <a:off x="400050" y="6381750"/>
            <a:ext cx="4953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基于当前 python2 样例与阶段实现</a:t>
            </a:r>
          </a:p>
        </p:txBody>
      </p:sp>
      <p:sp>
        <p:nvSpPr>
          <p:cNvPr id="5" name="rect-244-344"/>
          <p:cNvSpPr>
            <a:spLocks noGrp="1"/>
          </p:cNvSpPr>
          <p:nvPr/>
        </p:nvSpPr>
        <p:spPr>
          <a:xfrm>
            <a:off x="2324100" y="3276600"/>
            <a:ext cx="266700" cy="228600"/>
          </a:xfrm>
          <a:prstGeom prst="rightArrow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6" name="rect-482-344"/>
          <p:cNvSpPr>
            <a:spLocks noGrp="1"/>
          </p:cNvSpPr>
          <p:nvPr/>
        </p:nvSpPr>
        <p:spPr>
          <a:xfrm>
            <a:off x="4591050" y="3276600"/>
            <a:ext cx="266700" cy="228600"/>
          </a:xfrm>
          <a:prstGeom prst="rightArrow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7" name="rect-720-344"/>
          <p:cNvSpPr>
            <a:spLocks noGrp="1"/>
          </p:cNvSpPr>
          <p:nvPr/>
        </p:nvSpPr>
        <p:spPr>
          <a:xfrm>
            <a:off x="6858000" y="3276600"/>
            <a:ext cx="266700" cy="228600"/>
          </a:xfrm>
          <a:prstGeom prst="rightArrow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8" name="rect-958-344"/>
          <p:cNvSpPr>
            <a:spLocks noGrp="1"/>
          </p:cNvSpPr>
          <p:nvPr/>
        </p:nvSpPr>
        <p:spPr>
          <a:xfrm>
            <a:off x="9124950" y="3276600"/>
            <a:ext cx="266700" cy="228600"/>
          </a:xfrm>
          <a:prstGeom prst="rightArrow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9" name="rect-42-238"/>
          <p:cNvSpPr>
            <a:spLocks noGrp="1"/>
          </p:cNvSpPr>
          <p:nvPr/>
        </p:nvSpPr>
        <p:spPr>
          <a:xfrm>
            <a:off x="400050" y="2266950"/>
            <a:ext cx="1952625" cy="232410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10" name="text-62-260"/>
          <p:cNvSpPr>
            <a:spLocks noGrp="1"/>
          </p:cNvSpPr>
          <p:nvPr/>
        </p:nvSpPr>
        <p:spPr>
          <a:xfrm>
            <a:off x="590550" y="2476500"/>
            <a:ext cx="5143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01</a:t>
            </a:r>
          </a:p>
        </p:txBody>
      </p:sp>
      <p:sp>
        <p:nvSpPr>
          <p:cNvPr id="11" name="text-62-310"/>
          <p:cNvSpPr>
            <a:spLocks noGrp="1"/>
          </p:cNvSpPr>
          <p:nvPr/>
        </p:nvSpPr>
        <p:spPr>
          <a:xfrm>
            <a:off x="590550" y="2952750"/>
            <a:ext cx="1571625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DWG / DXF</a:t>
            </a:r>
          </a:p>
        </p:txBody>
      </p:sp>
      <p:sp>
        <p:nvSpPr>
          <p:cNvPr id="12" name="text-62-382"/>
          <p:cNvSpPr>
            <a:spLocks noGrp="1"/>
          </p:cNvSpPr>
          <p:nvPr/>
        </p:nvSpPr>
        <p:spPr>
          <a:xfrm>
            <a:off x="590550" y="3638550"/>
            <a:ext cx="1571625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读取模型空间、嵌套块和材料参数</a:t>
            </a:r>
          </a:p>
        </p:txBody>
      </p:sp>
      <p:sp>
        <p:nvSpPr>
          <p:cNvPr id="13" name="rect-280-238"/>
          <p:cNvSpPr>
            <a:spLocks noGrp="1"/>
          </p:cNvSpPr>
          <p:nvPr/>
        </p:nvSpPr>
        <p:spPr>
          <a:xfrm>
            <a:off x="2667000" y="2266950"/>
            <a:ext cx="1952625" cy="232410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14" name="text-300-260"/>
          <p:cNvSpPr>
            <a:spLocks noGrp="1"/>
          </p:cNvSpPr>
          <p:nvPr/>
        </p:nvSpPr>
        <p:spPr>
          <a:xfrm>
            <a:off x="2857500" y="2476500"/>
            <a:ext cx="5143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02</a:t>
            </a:r>
          </a:p>
        </p:txBody>
      </p:sp>
      <p:sp>
        <p:nvSpPr>
          <p:cNvPr id="15" name="text-300-310"/>
          <p:cNvSpPr>
            <a:spLocks noGrp="1"/>
          </p:cNvSpPr>
          <p:nvPr/>
        </p:nvSpPr>
        <p:spPr>
          <a:xfrm>
            <a:off x="2857500" y="2952750"/>
            <a:ext cx="1571625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几何识别</a:t>
            </a:r>
          </a:p>
        </p:txBody>
      </p:sp>
      <p:sp>
        <p:nvSpPr>
          <p:cNvPr id="16" name="text-300-382"/>
          <p:cNvSpPr>
            <a:spLocks noGrp="1"/>
          </p:cNvSpPr>
          <p:nvPr/>
        </p:nvSpPr>
        <p:spPr>
          <a:xfrm>
            <a:off x="2857500" y="3638550"/>
            <a:ext cx="1571625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恢复双线墙、门窗洞口及拓扑关系</a:t>
            </a:r>
          </a:p>
        </p:txBody>
      </p:sp>
      <p:sp>
        <p:nvSpPr>
          <p:cNvPr id="17" name="rect-518-238"/>
          <p:cNvSpPr>
            <a:spLocks noGrp="1"/>
          </p:cNvSpPr>
          <p:nvPr/>
        </p:nvSpPr>
        <p:spPr>
          <a:xfrm>
            <a:off x="4933950" y="2266950"/>
            <a:ext cx="1952625" cy="2324100"/>
          </a:xfrm>
          <a:prstGeom prst="rect">
            <a:avLst/>
          </a:prstGeom>
          <a:solidFill>
            <a:srgbClr val="F0F7FF"/>
          </a:solidFill>
          <a:ln w="0">
            <a:solidFill>
              <a:srgbClr val="F0F7FF"/>
            </a:solidFill>
            <a:prstDash val="solid"/>
          </a:ln>
        </p:spPr>
      </p:sp>
      <p:sp>
        <p:nvSpPr>
          <p:cNvPr id="18" name="text-538-260"/>
          <p:cNvSpPr>
            <a:spLocks noGrp="1"/>
          </p:cNvSpPr>
          <p:nvPr/>
        </p:nvSpPr>
        <p:spPr>
          <a:xfrm>
            <a:off x="5124450" y="2476500"/>
            <a:ext cx="5143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03</a:t>
            </a:r>
          </a:p>
        </p:txBody>
      </p:sp>
      <p:sp>
        <p:nvSpPr>
          <p:cNvPr id="19" name="text-538-310"/>
          <p:cNvSpPr>
            <a:spLocks noGrp="1"/>
          </p:cNvSpPr>
          <p:nvPr/>
        </p:nvSpPr>
        <p:spPr>
          <a:xfrm>
            <a:off x="5124450" y="2952750"/>
            <a:ext cx="1571625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单算法排板</a:t>
            </a:r>
          </a:p>
        </p:txBody>
      </p:sp>
      <p:sp>
        <p:nvSpPr>
          <p:cNvPr id="20" name="text-538-382"/>
          <p:cNvSpPr>
            <a:spLocks noGrp="1"/>
          </p:cNvSpPr>
          <p:nvPr/>
        </p:nvSpPr>
        <p:spPr>
          <a:xfrm>
            <a:off x="5124450" y="3638550"/>
            <a:ext cx="1571625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按确定性规则计算板宽组合与板缝</a:t>
            </a:r>
          </a:p>
        </p:txBody>
      </p:sp>
      <p:sp>
        <p:nvSpPr>
          <p:cNvPr id="21" name="rect-756-238"/>
          <p:cNvSpPr>
            <a:spLocks noGrp="1"/>
          </p:cNvSpPr>
          <p:nvPr/>
        </p:nvSpPr>
        <p:spPr>
          <a:xfrm>
            <a:off x="7200900" y="2266950"/>
            <a:ext cx="1952625" cy="232410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22" name="text-776-260"/>
          <p:cNvSpPr>
            <a:spLocks noGrp="1"/>
          </p:cNvSpPr>
          <p:nvPr/>
        </p:nvSpPr>
        <p:spPr>
          <a:xfrm>
            <a:off x="7391400" y="2476500"/>
            <a:ext cx="5143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04</a:t>
            </a:r>
          </a:p>
        </p:txBody>
      </p:sp>
      <p:sp>
        <p:nvSpPr>
          <p:cNvPr id="23" name="text-776-310"/>
          <p:cNvSpPr>
            <a:spLocks noGrp="1"/>
          </p:cNvSpPr>
          <p:nvPr/>
        </p:nvSpPr>
        <p:spPr>
          <a:xfrm>
            <a:off x="7391400" y="2952750"/>
            <a:ext cx="1571625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CAD 标注</a:t>
            </a:r>
          </a:p>
        </p:txBody>
      </p:sp>
      <p:sp>
        <p:nvSpPr>
          <p:cNvPr id="24" name="text-776-382"/>
          <p:cNvSpPr>
            <a:spLocks noGrp="1"/>
          </p:cNvSpPr>
          <p:nvPr/>
        </p:nvSpPr>
        <p:spPr>
          <a:xfrm>
            <a:off x="7391400" y="3638550"/>
            <a:ext cx="1571625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写入板宽文字、板缝线和复核图层</a:t>
            </a:r>
          </a:p>
        </p:txBody>
      </p:sp>
      <p:sp>
        <p:nvSpPr>
          <p:cNvPr id="25" name="rect-994-238"/>
          <p:cNvSpPr>
            <a:spLocks noGrp="1"/>
          </p:cNvSpPr>
          <p:nvPr/>
        </p:nvSpPr>
        <p:spPr>
          <a:xfrm>
            <a:off x="9467850" y="2266950"/>
            <a:ext cx="1952625" cy="232410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26" name="text-1014-260"/>
          <p:cNvSpPr>
            <a:spLocks noGrp="1"/>
          </p:cNvSpPr>
          <p:nvPr/>
        </p:nvSpPr>
        <p:spPr>
          <a:xfrm>
            <a:off x="9658350" y="2476500"/>
            <a:ext cx="5143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05</a:t>
            </a:r>
          </a:p>
        </p:txBody>
      </p:sp>
      <p:sp>
        <p:nvSpPr>
          <p:cNvPr id="27" name="text-1014-310"/>
          <p:cNvSpPr>
            <a:spLocks noGrp="1"/>
          </p:cNvSpPr>
          <p:nvPr/>
        </p:nvSpPr>
        <p:spPr>
          <a:xfrm>
            <a:off x="9658350" y="2952750"/>
            <a:ext cx="1571625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材料清单</a:t>
            </a:r>
          </a:p>
        </p:txBody>
      </p:sp>
      <p:sp>
        <p:nvSpPr>
          <p:cNvPr id="28" name="text-1014-382"/>
          <p:cNvSpPr>
            <a:spLocks noGrp="1"/>
          </p:cNvSpPr>
          <p:nvPr/>
        </p:nvSpPr>
        <p:spPr>
          <a:xfrm>
            <a:off x="9658350" y="3638550"/>
            <a:ext cx="1571625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输出 CSV / JSON，保留识别依据</a:t>
            </a:r>
          </a:p>
        </p:txBody>
      </p:sp>
      <p:sp>
        <p:nvSpPr>
          <p:cNvPr id="29" name="rect-42-520"/>
          <p:cNvSpPr>
            <a:spLocks noGrp="1"/>
          </p:cNvSpPr>
          <p:nvPr/>
        </p:nvSpPr>
        <p:spPr>
          <a:xfrm>
            <a:off x="400050" y="4953000"/>
            <a:ext cx="113919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C7CDD5"/>
            </a:solidFill>
            <a:prstDash val="solid"/>
          </a:ln>
        </p:spPr>
      </p:sp>
      <p:sp>
        <p:nvSpPr>
          <p:cNvPr id="30" name="text-66-542"/>
          <p:cNvSpPr>
            <a:spLocks noGrp="1"/>
          </p:cNvSpPr>
          <p:nvPr/>
        </p:nvSpPr>
        <p:spPr>
          <a:xfrm>
            <a:off x="628650" y="5162550"/>
            <a:ext cx="1428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当前边界</a:t>
            </a:r>
          </a:p>
        </p:txBody>
      </p:sp>
      <p:sp>
        <p:nvSpPr>
          <p:cNvPr id="31" name="text-214-538"/>
          <p:cNvSpPr>
            <a:spLocks noGrp="1"/>
          </p:cNvSpPr>
          <p:nvPr/>
        </p:nvSpPr>
        <p:spPr>
          <a:xfrm>
            <a:off x="2038350" y="5124450"/>
            <a:ext cx="93535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二维直墙墙板</a:t>
            </a:r>
            <a:r>
              <a:rPr lang="zh-CN"/>
              <a:t>，识别仍需优化</a:t>
            </a:r>
            <a:r>
              <a:t>；尚未覆盖顶板、曲墙、立面高度、阴阳角语义和完整项目工作流。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-42-30"/>
          <p:cNvSpPr>
            <a:spLocks noGrp="1"/>
          </p:cNvSpPr>
          <p:nvPr/>
        </p:nvSpPr>
        <p:spPr>
          <a:xfrm>
            <a:off x="400050" y="285750"/>
            <a:ext cx="514350" cy="666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" name="title-4"/>
          <p:cNvSpPr>
            <a:spLocks noGrp="1"/>
          </p:cNvSpPr>
          <p:nvPr/>
        </p:nvSpPr>
        <p:spPr>
          <a:xfrm>
            <a:off x="400050" y="476250"/>
            <a:ext cx="106680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确定性几何负责坐标，AI 负责语义判断</a:t>
            </a: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400050" y="6257925"/>
            <a:ext cx="11391900" cy="286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4" name="text-42-670"/>
          <p:cNvSpPr>
            <a:spLocks noGrp="1"/>
          </p:cNvSpPr>
          <p:nvPr/>
        </p:nvSpPr>
        <p:spPr>
          <a:xfrm>
            <a:off x="400050" y="6381750"/>
            <a:ext cx="4953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基于当前 python2 样例与阶段实现</a:t>
            </a:r>
          </a:p>
        </p:txBody>
      </p:sp>
      <p:sp>
        <p:nvSpPr>
          <p:cNvPr id="5" name="rect-42-164"/>
          <p:cNvSpPr>
            <a:spLocks noGrp="1"/>
          </p:cNvSpPr>
          <p:nvPr/>
        </p:nvSpPr>
        <p:spPr>
          <a:xfrm>
            <a:off x="400050" y="1562100"/>
            <a:ext cx="4953000" cy="363855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6" name="rect-718-164"/>
          <p:cNvSpPr>
            <a:spLocks noGrp="1"/>
          </p:cNvSpPr>
          <p:nvPr/>
        </p:nvSpPr>
        <p:spPr>
          <a:xfrm>
            <a:off x="6838950" y="1562100"/>
            <a:ext cx="4953000" cy="3638550"/>
          </a:xfrm>
          <a:prstGeom prst="rect">
            <a:avLst/>
          </a:prstGeom>
          <a:solidFill>
            <a:srgbClr val="F0F7FF"/>
          </a:solidFill>
          <a:ln w="0">
            <a:solidFill>
              <a:srgbClr val="F0F7FF"/>
            </a:solidFill>
            <a:prstDash val="solid"/>
          </a:ln>
        </p:spPr>
      </p:sp>
      <p:sp>
        <p:nvSpPr>
          <p:cNvPr id="7" name="text-72-196"/>
          <p:cNvSpPr>
            <a:spLocks noGrp="1"/>
          </p:cNvSpPr>
          <p:nvPr/>
        </p:nvSpPr>
        <p:spPr>
          <a:xfrm>
            <a:off x="685800" y="1866900"/>
            <a:ext cx="409575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确定性程序</a:t>
            </a:r>
          </a:p>
        </p:txBody>
      </p:sp>
      <p:sp>
        <p:nvSpPr>
          <p:cNvPr id="8" name="text-72-252"/>
          <p:cNvSpPr>
            <a:spLocks noGrp="1"/>
          </p:cNvSpPr>
          <p:nvPr/>
        </p:nvSpPr>
        <p:spPr>
          <a:xfrm>
            <a:off x="685800" y="2400300"/>
            <a:ext cx="409575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负责“在哪里、是多少”</a:t>
            </a:r>
          </a:p>
        </p:txBody>
      </p:sp>
      <p:sp>
        <p:nvSpPr>
          <p:cNvPr id="9" name="text-72-318"/>
          <p:cNvSpPr>
            <a:spLocks noGrp="1"/>
          </p:cNvSpPr>
          <p:nvPr/>
        </p:nvSpPr>
        <p:spPr>
          <a:xfrm>
            <a:off x="685800" y="3028950"/>
            <a:ext cx="4191000" cy="1809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• 读取 CAD 几何与图层
• 恢复墙面双线和净长
• 识别门窗几何位置
• 计算板宽、板缝和坐标
• 写回 DXF 与材料清单</a:t>
            </a:r>
          </a:p>
        </p:txBody>
      </p:sp>
      <p:sp>
        <p:nvSpPr>
          <p:cNvPr id="10" name="text-748-196"/>
          <p:cNvSpPr>
            <a:spLocks noGrp="1"/>
          </p:cNvSpPr>
          <p:nvPr/>
        </p:nvSpPr>
        <p:spPr>
          <a:xfrm>
            <a:off x="7124700" y="1866900"/>
            <a:ext cx="409575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AI 语义判断</a:t>
            </a:r>
          </a:p>
        </p:txBody>
      </p:sp>
      <p:sp>
        <p:nvSpPr>
          <p:cNvPr id="11" name="text-748-252"/>
          <p:cNvSpPr>
            <a:spLocks noGrp="1"/>
          </p:cNvSpPr>
          <p:nvPr/>
        </p:nvSpPr>
        <p:spPr>
          <a:xfrm>
            <a:off x="7124700" y="2400300"/>
            <a:ext cx="409575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负责“是什么、为什么”</a:t>
            </a:r>
          </a:p>
        </p:txBody>
      </p:sp>
      <p:sp>
        <p:nvSpPr>
          <p:cNvPr id="12" name="text-748-318"/>
          <p:cNvSpPr>
            <a:spLocks noGrp="1"/>
          </p:cNvSpPr>
          <p:nvPr/>
        </p:nvSpPr>
        <p:spPr>
          <a:xfrm>
            <a:off x="7124700" y="3028950"/>
            <a:ext cx="4191000" cy="1809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• 判断候选墙是否安装彩钢板
• 判断洞口是门还是窗
• 输出置信度与证据
• 低置信度对象进入复核层
• 保留原始结构化决定</a:t>
            </a:r>
          </a:p>
        </p:txBody>
      </p:sp>
      <p:sp>
        <p:nvSpPr>
          <p:cNvPr id="13" name="rect-536-286"/>
          <p:cNvSpPr>
            <a:spLocks noGrp="1"/>
          </p:cNvSpPr>
          <p:nvPr/>
        </p:nvSpPr>
        <p:spPr>
          <a:xfrm>
            <a:off x="5105400" y="2724150"/>
            <a:ext cx="1981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4" name="text-566-306"/>
          <p:cNvSpPr>
            <a:spLocks noGrp="1"/>
          </p:cNvSpPr>
          <p:nvPr/>
        </p:nvSpPr>
        <p:spPr>
          <a:xfrm>
            <a:off x="5391150" y="2914650"/>
            <a:ext cx="14097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安全边界</a:t>
            </a:r>
          </a:p>
        </p:txBody>
      </p:sp>
      <p:sp>
        <p:nvSpPr>
          <p:cNvPr id="15" name="text-556-348"/>
          <p:cNvSpPr>
            <a:spLocks noGrp="1"/>
          </p:cNvSpPr>
          <p:nvPr/>
        </p:nvSpPr>
        <p:spPr>
          <a:xfrm>
            <a:off x="5295900" y="3314700"/>
            <a:ext cx="1600200" cy="476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AI 不直接生成
或修改 CAD 坐标</a:t>
            </a:r>
          </a:p>
        </p:txBody>
      </p:sp>
      <p:sp>
        <p:nvSpPr>
          <p:cNvPr id="16" name="text-42-582"/>
          <p:cNvSpPr>
            <a:spLocks noGrp="1"/>
          </p:cNvSpPr>
          <p:nvPr/>
        </p:nvSpPr>
        <p:spPr>
          <a:xfrm>
            <a:off x="400050" y="5543550"/>
            <a:ext cx="113919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结构化几何保证可重复，AI 语义提高复杂图纸的适应性。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-42-30"/>
          <p:cNvSpPr>
            <a:spLocks noGrp="1"/>
          </p:cNvSpPr>
          <p:nvPr/>
        </p:nvSpPr>
        <p:spPr>
          <a:xfrm>
            <a:off x="400050" y="285750"/>
            <a:ext cx="514350" cy="666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" name="title-5"/>
          <p:cNvSpPr>
            <a:spLocks noGrp="1"/>
          </p:cNvSpPr>
          <p:nvPr/>
        </p:nvSpPr>
        <p:spPr>
          <a:xfrm>
            <a:off x="400050" y="476250"/>
            <a:ext cx="106680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现阶段用一套确定性算法完成墙板铺设</a:t>
            </a: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00050" y="6257925"/>
            <a:ext cx="11391900" cy="286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4" name="text-42-670"/>
          <p:cNvSpPr>
            <a:spLocks noGrp="1"/>
          </p:cNvSpPr>
          <p:nvPr/>
        </p:nvSpPr>
        <p:spPr>
          <a:xfrm>
            <a:off x="400050" y="6381750"/>
            <a:ext cx="4953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基于当前 python2 样例与阶段实现</a:t>
            </a:r>
          </a:p>
        </p:txBody>
      </p:sp>
      <p:sp>
        <p:nvSpPr>
          <p:cNvPr id="5" name="text-42-150"/>
          <p:cNvSpPr>
            <a:spLocks noGrp="1"/>
          </p:cNvSpPr>
          <p:nvPr/>
        </p:nvSpPr>
        <p:spPr>
          <a:xfrm>
            <a:off x="400050" y="1428750"/>
            <a:ext cx="2286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算法目标</a:t>
            </a:r>
          </a:p>
        </p:txBody>
      </p:sp>
      <p:sp>
        <p:nvSpPr>
          <p:cNvPr id="6" name="text-42-194"/>
          <p:cNvSpPr>
            <a:spLocks noGrp="1"/>
          </p:cNvSpPr>
          <p:nvPr/>
        </p:nvSpPr>
        <p:spPr>
          <a:xfrm>
            <a:off x="400050" y="1847850"/>
            <a:ext cx="5905500" cy="990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在满足尺寸和安装约束的前提下，优先提高标准板使用比例，并控制非标板尺寸与数量。</a:t>
            </a:r>
          </a:p>
        </p:txBody>
      </p:sp>
      <p:sp>
        <p:nvSpPr>
          <p:cNvPr id="7" name="rect-42-342"/>
          <p:cNvSpPr>
            <a:spLocks noGrp="1"/>
          </p:cNvSpPr>
          <p:nvPr/>
        </p:nvSpPr>
        <p:spPr>
          <a:xfrm>
            <a:off x="400050" y="3257550"/>
            <a:ext cx="5905500" cy="2228850"/>
          </a:xfrm>
          <a:prstGeom prst="rect">
            <a:avLst/>
          </a:prstGeom>
          <a:solidFill>
            <a:srgbClr val="F0F7FF"/>
          </a:solidFill>
          <a:ln w="0">
            <a:solidFill>
              <a:srgbClr val="F0F7FF"/>
            </a:solidFill>
            <a:prstDash val="solid"/>
          </a:ln>
        </p:spPr>
      </p:sp>
      <p:sp>
        <p:nvSpPr>
          <p:cNvPr id="8" name="text-72-370"/>
          <p:cNvSpPr>
            <a:spLocks noGrp="1"/>
          </p:cNvSpPr>
          <p:nvPr/>
        </p:nvSpPr>
        <p:spPr>
          <a:xfrm>
            <a:off x="685800" y="3524250"/>
            <a:ext cx="2476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当前决策顺序</a:t>
            </a:r>
          </a:p>
        </p:txBody>
      </p:sp>
      <p:sp>
        <p:nvSpPr>
          <p:cNvPr id="9" name="text-72-422"/>
          <p:cNvSpPr>
            <a:spLocks noGrp="1"/>
          </p:cNvSpPr>
          <p:nvPr/>
        </p:nvSpPr>
        <p:spPr>
          <a:xfrm>
            <a:off x="685800" y="4019550"/>
            <a:ext cx="5219700" cy="1066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先找全标准板精确组合 → 优先更多 1180 主板 → 580 辅助调整 → 比较标准板占比、对称收边和板数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6858000" y="1524000"/>
            <a:ext cx="286" cy="3962400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11" name="text-760-150"/>
          <p:cNvSpPr>
            <a:spLocks noGrp="1"/>
          </p:cNvSpPr>
          <p:nvPr/>
        </p:nvSpPr>
        <p:spPr>
          <a:xfrm>
            <a:off x="7239000" y="1428750"/>
            <a:ext cx="1905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硬约束</a:t>
            </a:r>
          </a:p>
        </p:txBody>
      </p:sp>
      <p:sp>
        <p:nvSpPr>
          <p:cNvPr id="12" name="text-760-208"/>
          <p:cNvSpPr>
            <a:spLocks noGrp="1"/>
          </p:cNvSpPr>
          <p:nvPr/>
        </p:nvSpPr>
        <p:spPr>
          <a:xfrm>
            <a:off x="7239000" y="1981200"/>
            <a:ext cx="1428750" cy="514350"/>
          </a:xfrm>
          <a:prstGeom prst="rect">
            <a:avLst/>
          </a:prstGeom>
        </p:spPr>
        <p:txBody>
          <a:bodyPr wrap="square" lIns="0" tIns="0" rIns="0" bIns="0" anchor="t">
            <a:normAutofit fontScale="97826"/>
          </a:bodyPr>
          <a:lstStyle/>
          <a:p>
            <a:pPr algn="l">
              <a:defRPr sz="34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1180</a:t>
            </a:r>
          </a:p>
        </p:txBody>
      </p:sp>
      <p:sp>
        <p:nvSpPr>
          <p:cNvPr id="13" name="text-920-226"/>
          <p:cNvSpPr>
            <a:spLocks noGrp="1"/>
          </p:cNvSpPr>
          <p:nvPr/>
        </p:nvSpPr>
        <p:spPr>
          <a:xfrm>
            <a:off x="8763000" y="2152650"/>
            <a:ext cx="2286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主板优先</a:t>
            </a:r>
          </a:p>
        </p:txBody>
      </p:sp>
      <p:sp>
        <p:nvSpPr>
          <p:cNvPr id="14" name="text-760-286"/>
          <p:cNvSpPr>
            <a:spLocks noGrp="1"/>
          </p:cNvSpPr>
          <p:nvPr/>
        </p:nvSpPr>
        <p:spPr>
          <a:xfrm>
            <a:off x="7239000" y="2724150"/>
            <a:ext cx="1428750" cy="514350"/>
          </a:xfrm>
          <a:prstGeom prst="rect">
            <a:avLst/>
          </a:prstGeom>
        </p:spPr>
        <p:txBody>
          <a:bodyPr wrap="square" lIns="0" tIns="0" rIns="0" bIns="0" anchor="t">
            <a:normAutofit fontScale="97826"/>
          </a:bodyPr>
          <a:lstStyle/>
          <a:p>
            <a:pPr algn="l">
              <a:defRPr sz="345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580</a:t>
            </a:r>
          </a:p>
        </p:txBody>
      </p:sp>
      <p:sp>
        <p:nvSpPr>
          <p:cNvPr id="15" name="text-920-304"/>
          <p:cNvSpPr>
            <a:spLocks noGrp="1"/>
          </p:cNvSpPr>
          <p:nvPr/>
        </p:nvSpPr>
        <p:spPr>
          <a:xfrm>
            <a:off x="8763000" y="2895600"/>
            <a:ext cx="2286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辅助调整板</a:t>
            </a:r>
          </a:p>
        </p:txBody>
      </p:sp>
      <p:sp>
        <p:nvSpPr>
          <p:cNvPr id="16" name="text-760-364"/>
          <p:cNvSpPr>
            <a:spLocks noGrp="1"/>
          </p:cNvSpPr>
          <p:nvPr/>
        </p:nvSpPr>
        <p:spPr>
          <a:xfrm>
            <a:off x="7239000" y="3467100"/>
            <a:ext cx="1428750" cy="514350"/>
          </a:xfrm>
          <a:prstGeom prst="rect">
            <a:avLst/>
          </a:prstGeom>
        </p:spPr>
        <p:txBody>
          <a:bodyPr wrap="square" lIns="0" tIns="0" rIns="0" bIns="0" anchor="t">
            <a:normAutofit fontScale="97826"/>
          </a:bodyPr>
          <a:lstStyle/>
          <a:p>
            <a:pPr algn="l">
              <a:defRPr sz="345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3 mm</a:t>
            </a:r>
          </a:p>
        </p:txBody>
      </p:sp>
      <p:sp>
        <p:nvSpPr>
          <p:cNvPr id="17" name="text-920-382"/>
          <p:cNvSpPr>
            <a:spLocks noGrp="1"/>
          </p:cNvSpPr>
          <p:nvPr/>
        </p:nvSpPr>
        <p:spPr>
          <a:xfrm>
            <a:off x="8763000" y="3638550"/>
            <a:ext cx="2286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安装板缝</a:t>
            </a:r>
          </a:p>
        </p:txBody>
      </p:sp>
      <p:sp>
        <p:nvSpPr>
          <p:cNvPr id="18" name="text-760-442"/>
          <p:cNvSpPr>
            <a:spLocks noGrp="1"/>
          </p:cNvSpPr>
          <p:nvPr/>
        </p:nvSpPr>
        <p:spPr>
          <a:xfrm>
            <a:off x="7239000" y="4210050"/>
            <a:ext cx="180975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≥150 mm</a:t>
            </a:r>
          </a:p>
        </p:txBody>
      </p:sp>
      <p:sp>
        <p:nvSpPr>
          <p:cNvPr id="19" name="text-960-460"/>
          <p:cNvSpPr>
            <a:spLocks noGrp="1"/>
          </p:cNvSpPr>
          <p:nvPr/>
        </p:nvSpPr>
        <p:spPr>
          <a:xfrm>
            <a:off x="9144000" y="4381500"/>
            <a:ext cx="2190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非标板最小宽度</a:t>
            </a:r>
          </a:p>
        </p:txBody>
      </p:sp>
      <p:sp>
        <p:nvSpPr>
          <p:cNvPr id="20" name="text-760-526"/>
          <p:cNvSpPr>
            <a:spLocks noGrp="1"/>
          </p:cNvSpPr>
          <p:nvPr/>
        </p:nvSpPr>
        <p:spPr>
          <a:xfrm>
            <a:off x="7239000" y="5010150"/>
            <a:ext cx="41148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5 mm 模数归整｜T 型连接默认预留 5 mm｜非标板优先对称收边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31850"/>
            <a:ext cx="12192000" cy="519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-42-30"/>
          <p:cNvSpPr>
            <a:spLocks noGrp="1"/>
          </p:cNvSpPr>
          <p:nvPr/>
        </p:nvSpPr>
        <p:spPr>
          <a:xfrm>
            <a:off x="400050" y="285750"/>
            <a:ext cx="514350" cy="666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" name="title-5"/>
          <p:cNvSpPr>
            <a:spLocks noGrp="1"/>
          </p:cNvSpPr>
          <p:nvPr/>
        </p:nvSpPr>
        <p:spPr>
          <a:xfrm>
            <a:off x="400050" y="476250"/>
            <a:ext cx="106680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现阶段用一套确定性算法完成墙板铺设</a:t>
            </a: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00050" y="6257925"/>
            <a:ext cx="11391900" cy="286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4" name="text-42-670"/>
          <p:cNvSpPr>
            <a:spLocks noGrp="1"/>
          </p:cNvSpPr>
          <p:nvPr/>
        </p:nvSpPr>
        <p:spPr>
          <a:xfrm>
            <a:off x="400050" y="6381750"/>
            <a:ext cx="4953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基于当前 python2 样例与阶段实现</a:t>
            </a:r>
          </a:p>
        </p:txBody>
      </p:sp>
      <p:pic>
        <p:nvPicPr>
          <p:cNvPr id="3" name="图片 2" descr="3024562110ea55f7544f7906c992beb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341120"/>
            <a:ext cx="4896485" cy="328866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385" y="3357245"/>
            <a:ext cx="7432040" cy="2699385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8040370" y="3495675"/>
            <a:ext cx="3456305" cy="5816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rect-42-30"/>
          <p:cNvSpPr>
            <a:spLocks noGrp="1"/>
          </p:cNvSpPr>
          <p:nvPr/>
        </p:nvSpPr>
        <p:spPr>
          <a:xfrm>
            <a:off x="400050" y="285750"/>
            <a:ext cx="514350" cy="666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" name="title-6"/>
          <p:cNvSpPr>
            <a:spLocks noGrp="1"/>
          </p:cNvSpPr>
          <p:nvPr/>
        </p:nvSpPr>
        <p:spPr>
          <a:xfrm>
            <a:off x="400050" y="476250"/>
            <a:ext cx="106680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下一步：多算法生成候选，AI 评分推荐</a:t>
            </a: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400050" y="6257925"/>
            <a:ext cx="11391900" cy="286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4" name="text-42-670"/>
          <p:cNvSpPr>
            <a:spLocks noGrp="1"/>
          </p:cNvSpPr>
          <p:nvPr/>
        </p:nvSpPr>
        <p:spPr>
          <a:xfrm>
            <a:off x="400050" y="6381750"/>
            <a:ext cx="4953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基于当前 python2 样例与阶段实现</a:t>
            </a:r>
          </a:p>
        </p:txBody>
      </p:sp>
      <p:sp>
        <p:nvSpPr>
          <p:cNvPr id="5" name="rect-1066-54"/>
          <p:cNvSpPr>
            <a:spLocks noGrp="1"/>
          </p:cNvSpPr>
          <p:nvPr/>
        </p:nvSpPr>
        <p:spPr>
          <a:xfrm>
            <a:off x="10153650" y="514350"/>
            <a:ext cx="1619250" cy="323850"/>
          </a:xfrm>
          <a:prstGeom prst="rect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6" name="text-1066-59"/>
          <p:cNvSpPr>
            <a:spLocks noGrp="1"/>
          </p:cNvSpPr>
          <p:nvPr/>
        </p:nvSpPr>
        <p:spPr>
          <a:xfrm>
            <a:off x="10153650" y="561975"/>
            <a:ext cx="16192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下一阶段方案</a:t>
            </a:r>
          </a:p>
        </p:txBody>
      </p:sp>
      <p:sp>
        <p:nvSpPr>
          <p:cNvPr id="7" name="rect-201-258"/>
          <p:cNvSpPr>
            <a:spLocks noGrp="1"/>
          </p:cNvSpPr>
          <p:nvPr/>
        </p:nvSpPr>
        <p:spPr>
          <a:xfrm>
            <a:off x="1914525" y="2457450"/>
            <a:ext cx="247650" cy="228600"/>
          </a:xfrm>
          <a:prstGeom prst="rightArrow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8" name="rect-394-258"/>
          <p:cNvSpPr>
            <a:spLocks noGrp="1"/>
          </p:cNvSpPr>
          <p:nvPr/>
        </p:nvSpPr>
        <p:spPr>
          <a:xfrm>
            <a:off x="3752850" y="2457450"/>
            <a:ext cx="247650" cy="228600"/>
          </a:xfrm>
          <a:prstGeom prst="rightArrow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9" name="rect-587-258"/>
          <p:cNvSpPr>
            <a:spLocks noGrp="1"/>
          </p:cNvSpPr>
          <p:nvPr/>
        </p:nvSpPr>
        <p:spPr>
          <a:xfrm>
            <a:off x="5591175" y="2457450"/>
            <a:ext cx="247650" cy="228600"/>
          </a:xfrm>
          <a:prstGeom prst="rightArrow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10" name="rect-780-258"/>
          <p:cNvSpPr>
            <a:spLocks noGrp="1"/>
          </p:cNvSpPr>
          <p:nvPr/>
        </p:nvSpPr>
        <p:spPr>
          <a:xfrm>
            <a:off x="7429500" y="2457450"/>
            <a:ext cx="247650" cy="228600"/>
          </a:xfrm>
          <a:prstGeom prst="rightArrow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11" name="rect-973-258"/>
          <p:cNvSpPr>
            <a:spLocks noGrp="1"/>
          </p:cNvSpPr>
          <p:nvPr/>
        </p:nvSpPr>
        <p:spPr>
          <a:xfrm>
            <a:off x="9267825" y="2457450"/>
            <a:ext cx="247650" cy="228600"/>
          </a:xfrm>
          <a:prstGeom prst="rightArrow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12" name="rect-42-212"/>
          <p:cNvSpPr>
            <a:spLocks noGrp="1"/>
          </p:cNvSpPr>
          <p:nvPr/>
        </p:nvSpPr>
        <p:spPr>
          <a:xfrm>
            <a:off x="400050" y="2019300"/>
            <a:ext cx="1514475" cy="110490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13" name="text-54-228"/>
          <p:cNvSpPr>
            <a:spLocks noGrp="1"/>
          </p:cNvSpPr>
          <p:nvPr/>
        </p:nvSpPr>
        <p:spPr>
          <a:xfrm>
            <a:off x="514350" y="2171700"/>
            <a:ext cx="12858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同一输入</a:t>
            </a:r>
          </a:p>
        </p:txBody>
      </p:sp>
      <p:sp>
        <p:nvSpPr>
          <p:cNvPr id="14" name="text-54-269"/>
          <p:cNvSpPr>
            <a:spLocks noGrp="1"/>
          </p:cNvSpPr>
          <p:nvPr/>
        </p:nvSpPr>
        <p:spPr>
          <a:xfrm>
            <a:off x="514350" y="2562225"/>
            <a:ext cx="1285875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墙体 / 顶板
洞口 / 参数</a:t>
            </a:r>
          </a:p>
        </p:txBody>
      </p:sp>
      <p:sp>
        <p:nvSpPr>
          <p:cNvPr id="15" name="rect-235-212"/>
          <p:cNvSpPr>
            <a:spLocks noGrp="1"/>
          </p:cNvSpPr>
          <p:nvPr/>
        </p:nvSpPr>
        <p:spPr>
          <a:xfrm>
            <a:off x="2238375" y="2019300"/>
            <a:ext cx="1514475" cy="110490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16" name="text-247-228"/>
          <p:cNvSpPr>
            <a:spLocks noGrp="1"/>
          </p:cNvSpPr>
          <p:nvPr/>
        </p:nvSpPr>
        <p:spPr>
          <a:xfrm>
            <a:off x="2352675" y="2171700"/>
            <a:ext cx="12858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多算法并行</a:t>
            </a:r>
          </a:p>
        </p:txBody>
      </p:sp>
      <p:sp>
        <p:nvSpPr>
          <p:cNvPr id="17" name="text-247-269"/>
          <p:cNvSpPr>
            <a:spLocks noGrp="1"/>
          </p:cNvSpPr>
          <p:nvPr/>
        </p:nvSpPr>
        <p:spPr>
          <a:xfrm>
            <a:off x="2352675" y="2562225"/>
            <a:ext cx="1285875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美观 / 成本
均衡策略</a:t>
            </a:r>
          </a:p>
        </p:txBody>
      </p:sp>
      <p:sp>
        <p:nvSpPr>
          <p:cNvPr id="18" name="rect-428-212"/>
          <p:cNvSpPr>
            <a:spLocks noGrp="1"/>
          </p:cNvSpPr>
          <p:nvPr/>
        </p:nvSpPr>
        <p:spPr>
          <a:xfrm>
            <a:off x="4076700" y="2019300"/>
            <a:ext cx="1514475" cy="110490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19" name="text-440-228"/>
          <p:cNvSpPr>
            <a:spLocks noGrp="1"/>
          </p:cNvSpPr>
          <p:nvPr/>
        </p:nvSpPr>
        <p:spPr>
          <a:xfrm>
            <a:off x="4191000" y="2171700"/>
            <a:ext cx="12858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候选方案</a:t>
            </a:r>
          </a:p>
        </p:txBody>
      </p:sp>
      <p:sp>
        <p:nvSpPr>
          <p:cNvPr id="20" name="text-440-269"/>
          <p:cNvSpPr>
            <a:spLocks noGrp="1"/>
          </p:cNvSpPr>
          <p:nvPr/>
        </p:nvSpPr>
        <p:spPr>
          <a:xfrm>
            <a:off x="4191000" y="2562225"/>
            <a:ext cx="1285875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多套可计算
排板结果</a:t>
            </a:r>
          </a:p>
        </p:txBody>
      </p:sp>
      <p:sp>
        <p:nvSpPr>
          <p:cNvPr id="21" name="rect-621-212"/>
          <p:cNvSpPr>
            <a:spLocks noGrp="1"/>
          </p:cNvSpPr>
          <p:nvPr/>
        </p:nvSpPr>
        <p:spPr>
          <a:xfrm>
            <a:off x="5915025" y="2019300"/>
            <a:ext cx="1514475" cy="110490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22" name="text-633-228"/>
          <p:cNvSpPr>
            <a:spLocks noGrp="1"/>
          </p:cNvSpPr>
          <p:nvPr/>
        </p:nvSpPr>
        <p:spPr>
          <a:xfrm>
            <a:off x="6029325" y="2171700"/>
            <a:ext cx="12858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硬约束过滤</a:t>
            </a:r>
          </a:p>
        </p:txBody>
      </p:sp>
      <p:sp>
        <p:nvSpPr>
          <p:cNvPr id="23" name="text-633-269"/>
          <p:cNvSpPr>
            <a:spLocks noGrp="1"/>
          </p:cNvSpPr>
          <p:nvPr/>
        </p:nvSpPr>
        <p:spPr>
          <a:xfrm>
            <a:off x="6029325" y="2562225"/>
            <a:ext cx="1285875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尺寸 / 板宽
洞口避缝</a:t>
            </a:r>
          </a:p>
        </p:txBody>
      </p:sp>
      <p:sp>
        <p:nvSpPr>
          <p:cNvPr id="24" name="rect-814-212"/>
          <p:cNvSpPr>
            <a:spLocks noGrp="1"/>
          </p:cNvSpPr>
          <p:nvPr/>
        </p:nvSpPr>
        <p:spPr>
          <a:xfrm>
            <a:off x="7753350" y="2019300"/>
            <a:ext cx="1514475" cy="1104900"/>
          </a:xfrm>
          <a:prstGeom prst="rect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25" name="text-826-228"/>
          <p:cNvSpPr>
            <a:spLocks noGrp="1"/>
          </p:cNvSpPr>
          <p:nvPr/>
        </p:nvSpPr>
        <p:spPr>
          <a:xfrm>
            <a:off x="7867650" y="2171700"/>
            <a:ext cx="12858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量化 + AI</a:t>
            </a:r>
          </a:p>
        </p:txBody>
      </p:sp>
      <p:sp>
        <p:nvSpPr>
          <p:cNvPr id="26" name="text-826-269"/>
          <p:cNvSpPr>
            <a:spLocks noGrp="1"/>
          </p:cNvSpPr>
          <p:nvPr/>
        </p:nvSpPr>
        <p:spPr>
          <a:xfrm>
            <a:off x="7867650" y="2562225"/>
            <a:ext cx="1285875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指标评分
理由解释</a:t>
            </a:r>
          </a:p>
        </p:txBody>
      </p:sp>
      <p:sp>
        <p:nvSpPr>
          <p:cNvPr id="27" name="rect-1007-212"/>
          <p:cNvSpPr>
            <a:spLocks noGrp="1"/>
          </p:cNvSpPr>
          <p:nvPr/>
        </p:nvSpPr>
        <p:spPr>
          <a:xfrm>
            <a:off x="9591675" y="2019300"/>
            <a:ext cx="1514475" cy="1104900"/>
          </a:xfrm>
          <a:prstGeom prst="rect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28" name="text-1019-228"/>
          <p:cNvSpPr>
            <a:spLocks noGrp="1"/>
          </p:cNvSpPr>
          <p:nvPr/>
        </p:nvSpPr>
        <p:spPr>
          <a:xfrm>
            <a:off x="9705975" y="2171700"/>
            <a:ext cx="12858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推荐方案</a:t>
            </a:r>
          </a:p>
        </p:txBody>
      </p:sp>
      <p:sp>
        <p:nvSpPr>
          <p:cNvPr id="29" name="text-1019-269"/>
          <p:cNvSpPr>
            <a:spLocks noGrp="1"/>
          </p:cNvSpPr>
          <p:nvPr/>
        </p:nvSpPr>
        <p:spPr>
          <a:xfrm>
            <a:off x="9705975" y="2562225"/>
            <a:ext cx="1285875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排序建议
人工确认</a:t>
            </a:r>
          </a:p>
        </p:txBody>
      </p:sp>
      <p:sp>
        <p:nvSpPr>
          <p:cNvPr id="30" name="rect-42-394"/>
          <p:cNvSpPr>
            <a:spLocks noGrp="1"/>
          </p:cNvSpPr>
          <p:nvPr/>
        </p:nvSpPr>
        <p:spPr>
          <a:xfrm>
            <a:off x="400050" y="3752850"/>
            <a:ext cx="3429000" cy="1504950"/>
          </a:xfrm>
          <a:prstGeom prst="rect">
            <a:avLst/>
          </a:prstGeom>
          <a:solidFill>
            <a:srgbClr val="F0F7FF"/>
          </a:solidFill>
          <a:ln w="0">
            <a:solidFill>
              <a:srgbClr val="F0F7FF"/>
            </a:solidFill>
            <a:prstDash val="solid"/>
          </a:ln>
        </p:spPr>
      </p:sp>
      <p:sp>
        <p:nvSpPr>
          <p:cNvPr id="31" name="text-66-420"/>
          <p:cNvSpPr>
            <a:spLocks noGrp="1"/>
          </p:cNvSpPr>
          <p:nvPr/>
        </p:nvSpPr>
        <p:spPr>
          <a:xfrm>
            <a:off x="628650" y="4000500"/>
            <a:ext cx="29718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32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最美观</a:t>
            </a:r>
          </a:p>
        </p:txBody>
      </p:sp>
      <p:sp>
        <p:nvSpPr>
          <p:cNvPr id="32" name="text-66-478"/>
          <p:cNvSpPr>
            <a:spLocks noGrp="1"/>
          </p:cNvSpPr>
          <p:nvPr/>
        </p:nvSpPr>
        <p:spPr>
          <a:xfrm>
            <a:off x="628650" y="4552950"/>
            <a:ext cx="29718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对称收边、走廊对缝
减少视觉错台</a:t>
            </a:r>
          </a:p>
        </p:txBody>
      </p:sp>
      <p:sp>
        <p:nvSpPr>
          <p:cNvPr id="33" name="rect-441-394"/>
          <p:cNvSpPr>
            <a:spLocks noGrp="1"/>
          </p:cNvSpPr>
          <p:nvPr/>
        </p:nvSpPr>
        <p:spPr>
          <a:xfrm>
            <a:off x="4200525" y="3752850"/>
            <a:ext cx="3429000" cy="150495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34" name="text-465-420"/>
          <p:cNvSpPr>
            <a:spLocks noGrp="1"/>
          </p:cNvSpPr>
          <p:nvPr/>
        </p:nvSpPr>
        <p:spPr>
          <a:xfrm>
            <a:off x="4429125" y="4000500"/>
            <a:ext cx="29718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32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最低成本</a:t>
            </a:r>
          </a:p>
        </p:txBody>
      </p:sp>
      <p:sp>
        <p:nvSpPr>
          <p:cNvPr id="35" name="text-465-478"/>
          <p:cNvSpPr>
            <a:spLocks noGrp="1"/>
          </p:cNvSpPr>
          <p:nvPr/>
        </p:nvSpPr>
        <p:spPr>
          <a:xfrm>
            <a:off x="4429125" y="4552950"/>
            <a:ext cx="29718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提高标准板占比
减少非标与损耗</a:t>
            </a:r>
          </a:p>
        </p:txBody>
      </p:sp>
      <p:sp>
        <p:nvSpPr>
          <p:cNvPr id="36" name="rect-840-394"/>
          <p:cNvSpPr>
            <a:spLocks noGrp="1"/>
          </p:cNvSpPr>
          <p:nvPr/>
        </p:nvSpPr>
        <p:spPr>
          <a:xfrm>
            <a:off x="8001000" y="3752850"/>
            <a:ext cx="3429000" cy="1504950"/>
          </a:xfrm>
          <a:prstGeom prst="rect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37" name="text-864-420"/>
          <p:cNvSpPr>
            <a:spLocks noGrp="1"/>
          </p:cNvSpPr>
          <p:nvPr/>
        </p:nvSpPr>
        <p:spPr>
          <a:xfrm>
            <a:off x="8229600" y="4000500"/>
            <a:ext cx="29718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325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最均衡</a:t>
            </a:r>
          </a:p>
        </p:txBody>
      </p:sp>
      <p:sp>
        <p:nvSpPr>
          <p:cNvPr id="38" name="text-864-478"/>
          <p:cNvSpPr>
            <a:spLocks noGrp="1"/>
          </p:cNvSpPr>
          <p:nvPr/>
        </p:nvSpPr>
        <p:spPr>
          <a:xfrm>
            <a:off x="8229600" y="4552950"/>
            <a:ext cx="29718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兼顾成本、美观
加工与安装便利</a:t>
            </a:r>
          </a:p>
        </p:txBody>
      </p:sp>
      <p:sp>
        <p:nvSpPr>
          <p:cNvPr id="39" name="text-42-590"/>
          <p:cNvSpPr>
            <a:spLocks noGrp="1"/>
          </p:cNvSpPr>
          <p:nvPr/>
        </p:nvSpPr>
        <p:spPr>
          <a:xfrm>
            <a:off x="400050" y="5619750"/>
            <a:ext cx="113919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AI 评分不会替代规则校核：违反硬约束的方案先淘汰，再按业务权重排序。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rect-42-30"/>
          <p:cNvSpPr>
            <a:spLocks noGrp="1"/>
          </p:cNvSpPr>
          <p:nvPr/>
        </p:nvSpPr>
        <p:spPr>
          <a:xfrm>
            <a:off x="400050" y="285750"/>
            <a:ext cx="514350" cy="666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" name="title-7"/>
          <p:cNvSpPr>
            <a:spLocks noGrp="1"/>
          </p:cNvSpPr>
          <p:nvPr/>
        </p:nvSpPr>
        <p:spPr>
          <a:xfrm>
            <a:off x="400050" y="476250"/>
            <a:ext cx="106680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每个判断和产物都可追溯、可复核</a:t>
            </a: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400050" y="6257925"/>
            <a:ext cx="11391900" cy="286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4" name="text-42-670"/>
          <p:cNvSpPr>
            <a:spLocks noGrp="1"/>
          </p:cNvSpPr>
          <p:nvPr/>
        </p:nvSpPr>
        <p:spPr>
          <a:xfrm>
            <a:off x="400050" y="6381750"/>
            <a:ext cx="4953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基于当前 python2 样例与阶段实现</a:t>
            </a:r>
          </a:p>
        </p:txBody>
      </p:sp>
      <p:sp>
        <p:nvSpPr>
          <p:cNvPr id="5" name="rect-299-326"/>
          <p:cNvSpPr>
            <a:spLocks noGrp="1"/>
          </p:cNvSpPr>
          <p:nvPr/>
        </p:nvSpPr>
        <p:spPr>
          <a:xfrm>
            <a:off x="2847975" y="3105150"/>
            <a:ext cx="238125" cy="209550"/>
          </a:xfrm>
          <a:prstGeom prst="rightArrow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6" name="rect-591-326"/>
          <p:cNvSpPr>
            <a:spLocks noGrp="1"/>
          </p:cNvSpPr>
          <p:nvPr/>
        </p:nvSpPr>
        <p:spPr>
          <a:xfrm>
            <a:off x="5629275" y="3105150"/>
            <a:ext cx="238125" cy="209550"/>
          </a:xfrm>
          <a:prstGeom prst="rightArrow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7" name="rect-883-326"/>
          <p:cNvSpPr>
            <a:spLocks noGrp="1"/>
          </p:cNvSpPr>
          <p:nvPr/>
        </p:nvSpPr>
        <p:spPr>
          <a:xfrm>
            <a:off x="8410575" y="3105150"/>
            <a:ext cx="238125" cy="209550"/>
          </a:xfrm>
          <a:prstGeom prst="rightArrow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8" name="rect-42-196"/>
          <p:cNvSpPr>
            <a:spLocks noGrp="1"/>
          </p:cNvSpPr>
          <p:nvPr/>
        </p:nvSpPr>
        <p:spPr>
          <a:xfrm>
            <a:off x="400050" y="1866900"/>
            <a:ext cx="2381250" cy="299085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9" name="text-64-222"/>
          <p:cNvSpPr>
            <a:spLocks noGrp="1"/>
          </p:cNvSpPr>
          <p:nvPr/>
        </p:nvSpPr>
        <p:spPr>
          <a:xfrm>
            <a:off x="609600" y="2114550"/>
            <a:ext cx="19621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识别决定</a:t>
            </a:r>
          </a:p>
        </p:txBody>
      </p:sp>
      <p:sp>
        <p:nvSpPr>
          <p:cNvPr id="10" name="text-60-304"/>
          <p:cNvSpPr>
            <a:spLocks noGrp="1"/>
          </p:cNvSpPr>
          <p:nvPr/>
        </p:nvSpPr>
        <p:spPr>
          <a:xfrm>
            <a:off x="571500" y="2895600"/>
            <a:ext cx="2038350" cy="685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ai_recognition.json</a:t>
            </a:r>
          </a:p>
        </p:txBody>
      </p:sp>
      <p:sp>
        <p:nvSpPr>
          <p:cNvPr id="11" name="text-64-410"/>
          <p:cNvSpPr>
            <a:spLocks noGrp="1"/>
          </p:cNvSpPr>
          <p:nvPr/>
        </p:nvSpPr>
        <p:spPr>
          <a:xfrm>
            <a:off x="609600" y="3905250"/>
            <a:ext cx="19621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AI 原始判断、置信度和依据</a:t>
            </a:r>
          </a:p>
        </p:txBody>
      </p:sp>
      <p:sp>
        <p:nvSpPr>
          <p:cNvPr id="12" name="rect-334-196"/>
          <p:cNvSpPr>
            <a:spLocks noGrp="1"/>
          </p:cNvSpPr>
          <p:nvPr/>
        </p:nvSpPr>
        <p:spPr>
          <a:xfrm>
            <a:off x="3181350" y="1866900"/>
            <a:ext cx="2381250" cy="2990850"/>
          </a:xfrm>
          <a:prstGeom prst="rect">
            <a:avLst/>
          </a:prstGeom>
          <a:solidFill>
            <a:srgbClr val="F0F7FF"/>
          </a:solidFill>
          <a:ln w="0">
            <a:solidFill>
              <a:srgbClr val="F0F7FF"/>
            </a:solidFill>
            <a:prstDash val="solid"/>
          </a:ln>
        </p:spPr>
      </p:sp>
      <p:sp>
        <p:nvSpPr>
          <p:cNvPr id="13" name="text-356-222"/>
          <p:cNvSpPr>
            <a:spLocks noGrp="1"/>
          </p:cNvSpPr>
          <p:nvPr/>
        </p:nvSpPr>
        <p:spPr>
          <a:xfrm>
            <a:off x="3390900" y="2114550"/>
            <a:ext cx="19621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权威模型</a:t>
            </a:r>
          </a:p>
        </p:txBody>
      </p:sp>
      <p:sp>
        <p:nvSpPr>
          <p:cNvPr id="14" name="text-352-304"/>
          <p:cNvSpPr>
            <a:spLocks noGrp="1"/>
          </p:cNvSpPr>
          <p:nvPr/>
        </p:nvSpPr>
        <p:spPr>
          <a:xfrm>
            <a:off x="3352800" y="2895600"/>
            <a:ext cx="2038350" cy="685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detected_model.json</a:t>
            </a:r>
          </a:p>
        </p:txBody>
      </p:sp>
      <p:sp>
        <p:nvSpPr>
          <p:cNvPr id="15" name="text-356-410"/>
          <p:cNvSpPr>
            <a:spLocks noGrp="1"/>
          </p:cNvSpPr>
          <p:nvPr/>
        </p:nvSpPr>
        <p:spPr>
          <a:xfrm>
            <a:off x="3390900" y="3905250"/>
            <a:ext cx="19621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坐标、墙段、洞口和低置信度对象</a:t>
            </a:r>
          </a:p>
        </p:txBody>
      </p:sp>
      <p:sp>
        <p:nvSpPr>
          <p:cNvPr id="16" name="rect-626-196"/>
          <p:cNvSpPr>
            <a:spLocks noGrp="1"/>
          </p:cNvSpPr>
          <p:nvPr/>
        </p:nvSpPr>
        <p:spPr>
          <a:xfrm>
            <a:off x="5962650" y="1866900"/>
            <a:ext cx="2381250" cy="299085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17" name="text-648-222"/>
          <p:cNvSpPr>
            <a:spLocks noGrp="1"/>
          </p:cNvSpPr>
          <p:nvPr/>
        </p:nvSpPr>
        <p:spPr>
          <a:xfrm>
            <a:off x="6172200" y="2114550"/>
            <a:ext cx="19621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图纸成果</a:t>
            </a:r>
          </a:p>
        </p:txBody>
      </p:sp>
      <p:sp>
        <p:nvSpPr>
          <p:cNvPr id="18" name="text-644-304"/>
          <p:cNvSpPr>
            <a:spLocks noGrp="1"/>
          </p:cNvSpPr>
          <p:nvPr/>
        </p:nvSpPr>
        <p:spPr>
          <a:xfrm>
            <a:off x="6134100" y="2895600"/>
            <a:ext cx="2038350" cy="685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detected_walls.dxf
panel_layout_result.dxf</a:t>
            </a:r>
          </a:p>
        </p:txBody>
      </p:sp>
      <p:sp>
        <p:nvSpPr>
          <p:cNvPr id="19" name="text-648-410"/>
          <p:cNvSpPr>
            <a:spLocks noGrp="1"/>
          </p:cNvSpPr>
          <p:nvPr/>
        </p:nvSpPr>
        <p:spPr>
          <a:xfrm>
            <a:off x="6172200" y="3905250"/>
            <a:ext cx="19621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识别覆盖层、板缝与板宽标注</a:t>
            </a:r>
          </a:p>
        </p:txBody>
      </p:sp>
      <p:sp>
        <p:nvSpPr>
          <p:cNvPr id="20" name="rect-918-196"/>
          <p:cNvSpPr>
            <a:spLocks noGrp="1"/>
          </p:cNvSpPr>
          <p:nvPr/>
        </p:nvSpPr>
        <p:spPr>
          <a:xfrm>
            <a:off x="8743950" y="1866900"/>
            <a:ext cx="2381250" cy="299085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21" name="text-940-222"/>
          <p:cNvSpPr>
            <a:spLocks noGrp="1"/>
          </p:cNvSpPr>
          <p:nvPr/>
        </p:nvSpPr>
        <p:spPr>
          <a:xfrm>
            <a:off x="8953500" y="2114550"/>
            <a:ext cx="19621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材料成果</a:t>
            </a:r>
          </a:p>
        </p:txBody>
      </p:sp>
      <p:sp>
        <p:nvSpPr>
          <p:cNvPr id="22" name="text-936-304"/>
          <p:cNvSpPr>
            <a:spLocks noGrp="1"/>
          </p:cNvSpPr>
          <p:nvPr/>
        </p:nvSpPr>
        <p:spPr>
          <a:xfrm>
            <a:off x="8915400" y="2895600"/>
            <a:ext cx="2038350" cy="685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panel_schedule.csv / json</a:t>
            </a:r>
          </a:p>
        </p:txBody>
      </p:sp>
      <p:sp>
        <p:nvSpPr>
          <p:cNvPr id="23" name="text-940-410"/>
          <p:cNvSpPr>
            <a:spLocks noGrp="1"/>
          </p:cNvSpPr>
          <p:nvPr/>
        </p:nvSpPr>
        <p:spPr>
          <a:xfrm>
            <a:off x="8953500" y="3905250"/>
            <a:ext cx="19621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标准板、非标板、数量和调整量</a:t>
            </a:r>
          </a:p>
        </p:txBody>
      </p:sp>
      <p:sp>
        <p:nvSpPr>
          <p:cNvPr id="24" name="rect-42-548"/>
          <p:cNvSpPr>
            <a:spLocks noGrp="1"/>
          </p:cNvSpPr>
          <p:nvPr/>
        </p:nvSpPr>
        <p:spPr>
          <a:xfrm>
            <a:off x="400050" y="5219700"/>
            <a:ext cx="111252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25" name="text-64-562"/>
          <p:cNvSpPr>
            <a:spLocks noGrp="1"/>
          </p:cNvSpPr>
          <p:nvPr/>
        </p:nvSpPr>
        <p:spPr>
          <a:xfrm>
            <a:off x="609600" y="5353050"/>
            <a:ext cx="107061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可追溯链路：源文件哈希 → 几何候选 → AI 决定 → 排板结果 → 图纸与 BOM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-42-30"/>
          <p:cNvSpPr>
            <a:spLocks noGrp="1"/>
          </p:cNvSpPr>
          <p:nvPr/>
        </p:nvSpPr>
        <p:spPr>
          <a:xfrm>
            <a:off x="400050" y="285750"/>
            <a:ext cx="514350" cy="666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" name="title-9"/>
          <p:cNvSpPr>
            <a:spLocks noGrp="1"/>
          </p:cNvSpPr>
          <p:nvPr/>
        </p:nvSpPr>
        <p:spPr>
          <a:xfrm>
            <a:off x="400050" y="476250"/>
            <a:ext cx="106680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当前瓶颈是图纸复杂度与业务语义缺失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400050" y="6257925"/>
            <a:ext cx="11391900" cy="286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4" name="text-42-670"/>
          <p:cNvSpPr>
            <a:spLocks noGrp="1"/>
          </p:cNvSpPr>
          <p:nvPr/>
        </p:nvSpPr>
        <p:spPr>
          <a:xfrm>
            <a:off x="400050" y="6381750"/>
            <a:ext cx="4953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基于当前 python2 样例与阶段实现</a:t>
            </a:r>
          </a:p>
        </p:txBody>
      </p:sp>
      <p:sp>
        <p:nvSpPr>
          <p:cNvPr id="5" name="text-42-150"/>
          <p:cNvSpPr>
            <a:spLocks noGrp="1"/>
          </p:cNvSpPr>
          <p:nvPr/>
        </p:nvSpPr>
        <p:spPr>
          <a:xfrm>
            <a:off x="400050" y="1428750"/>
            <a:ext cx="4953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图纸与几何层面</a:t>
            </a: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400050" y="2000250"/>
            <a:ext cx="4953000" cy="286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7" name="text-42-244"/>
          <p:cNvSpPr>
            <a:spLocks noGrp="1"/>
          </p:cNvSpPr>
          <p:nvPr/>
        </p:nvSpPr>
        <p:spPr>
          <a:xfrm>
            <a:off x="400050" y="2324100"/>
            <a:ext cx="4953000" cy="2076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01  旧版 DXF 中文编码不统一
02  碎线、重复线与嵌套块并存
03  门窗几何可能与墙线同色、连续
04  曲墙和带 bulge 的圆弧段尚未处理</a:t>
            </a:r>
          </a:p>
        </p:txBody>
      </p:sp>
      <p:sp>
        <p:nvSpPr>
          <p:cNvPr id="8" name="text-718-150"/>
          <p:cNvSpPr>
            <a:spLocks noGrp="1"/>
          </p:cNvSpPr>
          <p:nvPr/>
        </p:nvSpPr>
        <p:spPr>
          <a:xfrm>
            <a:off x="6838950" y="1428750"/>
            <a:ext cx="4953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业务与项目层面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6838950" y="2000250"/>
            <a:ext cx="4953000" cy="286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10" name="text-718-244"/>
          <p:cNvSpPr>
            <a:spLocks noGrp="1"/>
          </p:cNvSpPr>
          <p:nvPr/>
        </p:nvSpPr>
        <p:spPr>
          <a:xfrm>
            <a:off x="6838950" y="2324100"/>
            <a:ext cx="4953000" cy="2076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01  平面图缺少立面高度与面积信息
02  尚无房间内外侧、阴阳角语义
03  低置信度对象仍需专业人员复核
04  不同项目的板材、对缝规则需配置化</a:t>
            </a:r>
          </a:p>
        </p:txBody>
      </p:sp>
      <p:sp>
        <p:nvSpPr>
          <p:cNvPr id="11" name="rect-42-508"/>
          <p:cNvSpPr>
            <a:spLocks noGrp="1"/>
          </p:cNvSpPr>
          <p:nvPr/>
        </p:nvSpPr>
        <p:spPr>
          <a:xfrm>
            <a:off x="400050" y="4838700"/>
            <a:ext cx="11391900" cy="876300"/>
          </a:xfrm>
          <a:prstGeom prst="rect">
            <a:avLst/>
          </a:prstGeom>
          <a:solidFill>
            <a:srgbClr val="F0F7FF"/>
          </a:solidFill>
          <a:ln w="0">
            <a:solidFill>
              <a:srgbClr val="F0F7FF"/>
            </a:solidFill>
            <a:prstDash val="solid"/>
          </a:ln>
        </p:spPr>
      </p:sp>
      <p:sp>
        <p:nvSpPr>
          <p:cNvPr id="12" name="text-68-530"/>
          <p:cNvSpPr>
            <a:spLocks noGrp="1"/>
          </p:cNvSpPr>
          <p:nvPr/>
        </p:nvSpPr>
        <p:spPr>
          <a:xfrm>
            <a:off x="647700" y="5048250"/>
            <a:ext cx="1809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工程化原则</a:t>
            </a:r>
          </a:p>
        </p:txBody>
      </p:sp>
      <p:sp>
        <p:nvSpPr>
          <p:cNvPr id="13" name="text-252-526"/>
          <p:cNvSpPr>
            <a:spLocks noGrp="1"/>
          </p:cNvSpPr>
          <p:nvPr/>
        </p:nvSpPr>
        <p:spPr>
          <a:xfrm>
            <a:off x="2400300" y="5010150"/>
            <a:ext cx="89344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不静默猜测：保留置信度、证据和复核图层，避免错误直接进入生产结果。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rect-42-30"/>
          <p:cNvSpPr>
            <a:spLocks noGrp="1"/>
          </p:cNvSpPr>
          <p:nvPr/>
        </p:nvSpPr>
        <p:spPr>
          <a:xfrm>
            <a:off x="400050" y="285750"/>
            <a:ext cx="514350" cy="666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" name="title-10"/>
          <p:cNvSpPr>
            <a:spLocks noGrp="1"/>
          </p:cNvSpPr>
          <p:nvPr/>
        </p:nvSpPr>
        <p:spPr>
          <a:xfrm>
            <a:off x="400050" y="476250"/>
            <a:ext cx="106680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10–12 周：墙顶协同与多方案推荐</a:t>
            </a: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400050" y="6257925"/>
            <a:ext cx="11391900" cy="286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4" name="text-42-670"/>
          <p:cNvSpPr>
            <a:spLocks noGrp="1"/>
          </p:cNvSpPr>
          <p:nvPr/>
        </p:nvSpPr>
        <p:spPr>
          <a:xfrm>
            <a:off x="400050" y="6381750"/>
            <a:ext cx="4953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基于当前 python2 样例与阶段实现</a:t>
            </a:r>
          </a:p>
        </p:txBody>
      </p:sp>
      <p:sp>
        <p:nvSpPr>
          <p:cNvPr id="5" name="rect-1066-54"/>
          <p:cNvSpPr>
            <a:spLocks noGrp="1"/>
          </p:cNvSpPr>
          <p:nvPr/>
        </p:nvSpPr>
        <p:spPr>
          <a:xfrm>
            <a:off x="10153650" y="514350"/>
            <a:ext cx="1619250" cy="323850"/>
          </a:xfrm>
          <a:prstGeom prst="rect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6" name="text-1066-59"/>
          <p:cNvSpPr>
            <a:spLocks noGrp="1"/>
          </p:cNvSpPr>
          <p:nvPr/>
        </p:nvSpPr>
        <p:spPr>
          <a:xfrm>
            <a:off x="10153650" y="561975"/>
            <a:ext cx="16192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下一阶段方案</a:t>
            </a: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876300" y="3276600"/>
            <a:ext cx="10382250" cy="286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</a:ln>
        </p:spPr>
      </p:cxnSp>
      <p:sp>
        <p:nvSpPr>
          <p:cNvPr id="8" name="rect-92-335"/>
          <p:cNvSpPr>
            <a:spLocks noGrp="1"/>
          </p:cNvSpPr>
          <p:nvPr/>
        </p:nvSpPr>
        <p:spPr>
          <a:xfrm>
            <a:off x="876300" y="3190875"/>
            <a:ext cx="171450" cy="171450"/>
          </a:xfrm>
          <a:prstGeom prst="ellipse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9" name="text-92-286"/>
          <p:cNvSpPr>
            <a:spLocks noGrp="1"/>
          </p:cNvSpPr>
          <p:nvPr/>
        </p:nvSpPr>
        <p:spPr>
          <a:xfrm>
            <a:off x="876300" y="272415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第 1–2 周</a:t>
            </a:r>
          </a:p>
        </p:txBody>
      </p:sp>
      <p:sp>
        <p:nvSpPr>
          <p:cNvPr id="10" name="text-92-386"/>
          <p:cNvSpPr>
            <a:spLocks noGrp="1"/>
          </p:cNvSpPr>
          <p:nvPr/>
        </p:nvSpPr>
        <p:spPr>
          <a:xfrm>
            <a:off x="876300" y="36766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墙板稳定化</a:t>
            </a:r>
          </a:p>
        </p:txBody>
      </p:sp>
      <p:sp>
        <p:nvSpPr>
          <p:cNvPr id="11" name="text-92-444"/>
          <p:cNvSpPr>
            <a:spLocks noGrp="1"/>
          </p:cNvSpPr>
          <p:nvPr/>
        </p:nvSpPr>
        <p:spPr>
          <a:xfrm>
            <a:off x="876300" y="4229100"/>
            <a:ext cx="219075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复杂图纸适配
识别与排板回归样例</a:t>
            </a:r>
          </a:p>
        </p:txBody>
      </p:sp>
      <p:sp>
        <p:nvSpPr>
          <p:cNvPr id="12" name="rect-378-335"/>
          <p:cNvSpPr>
            <a:spLocks noGrp="1"/>
          </p:cNvSpPr>
          <p:nvPr/>
        </p:nvSpPr>
        <p:spPr>
          <a:xfrm>
            <a:off x="3600450" y="3190875"/>
            <a:ext cx="171450" cy="171450"/>
          </a:xfrm>
          <a:prstGeom prst="ellipse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13" name="text-378-286"/>
          <p:cNvSpPr>
            <a:spLocks noGrp="1"/>
          </p:cNvSpPr>
          <p:nvPr/>
        </p:nvSpPr>
        <p:spPr>
          <a:xfrm>
            <a:off x="3600450" y="272415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第 3–5 周</a:t>
            </a:r>
          </a:p>
        </p:txBody>
      </p:sp>
      <p:sp>
        <p:nvSpPr>
          <p:cNvPr id="14" name="text-378-386"/>
          <p:cNvSpPr>
            <a:spLocks noGrp="1"/>
          </p:cNvSpPr>
          <p:nvPr/>
        </p:nvSpPr>
        <p:spPr>
          <a:xfrm>
            <a:off x="3600450" y="36766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多算法框架</a:t>
            </a:r>
          </a:p>
        </p:txBody>
      </p:sp>
      <p:sp>
        <p:nvSpPr>
          <p:cNvPr id="15" name="text-378-444"/>
          <p:cNvSpPr>
            <a:spLocks noGrp="1"/>
          </p:cNvSpPr>
          <p:nvPr/>
        </p:nvSpPr>
        <p:spPr>
          <a:xfrm>
            <a:off x="3600450" y="4229100"/>
            <a:ext cx="219075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候选方案生成
统一评价指标</a:t>
            </a:r>
          </a:p>
        </p:txBody>
      </p:sp>
      <p:sp>
        <p:nvSpPr>
          <p:cNvPr id="16" name="rect-664-335"/>
          <p:cNvSpPr>
            <a:spLocks noGrp="1"/>
          </p:cNvSpPr>
          <p:nvPr/>
        </p:nvSpPr>
        <p:spPr>
          <a:xfrm>
            <a:off x="6324600" y="3190875"/>
            <a:ext cx="171450" cy="171450"/>
          </a:xfrm>
          <a:prstGeom prst="ellipse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17" name="text-664-286"/>
          <p:cNvSpPr>
            <a:spLocks noGrp="1"/>
          </p:cNvSpPr>
          <p:nvPr/>
        </p:nvSpPr>
        <p:spPr>
          <a:xfrm>
            <a:off x="6324600" y="272415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第 6–9 周</a:t>
            </a:r>
          </a:p>
        </p:txBody>
      </p:sp>
      <p:sp>
        <p:nvSpPr>
          <p:cNvPr id="18" name="text-664-386"/>
          <p:cNvSpPr>
            <a:spLocks noGrp="1"/>
          </p:cNvSpPr>
          <p:nvPr/>
        </p:nvSpPr>
        <p:spPr>
          <a:xfrm>
            <a:off x="6324600" y="36766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墙顶协同</a:t>
            </a:r>
          </a:p>
        </p:txBody>
      </p:sp>
      <p:sp>
        <p:nvSpPr>
          <p:cNvPr id="19" name="text-664-444"/>
          <p:cNvSpPr>
            <a:spLocks noGrp="1"/>
          </p:cNvSpPr>
          <p:nvPr/>
        </p:nvSpPr>
        <p:spPr>
          <a:xfrm>
            <a:off x="6324600" y="4229100"/>
            <a:ext cx="219075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顶板与洞口识别
墙顶对缝约束</a:t>
            </a:r>
          </a:p>
        </p:txBody>
      </p:sp>
      <p:sp>
        <p:nvSpPr>
          <p:cNvPr id="20" name="rect-950-335"/>
          <p:cNvSpPr>
            <a:spLocks noGrp="1"/>
          </p:cNvSpPr>
          <p:nvPr/>
        </p:nvSpPr>
        <p:spPr>
          <a:xfrm>
            <a:off x="9048750" y="3190875"/>
            <a:ext cx="171450" cy="1714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1" name="text-950-286"/>
          <p:cNvSpPr>
            <a:spLocks noGrp="1"/>
          </p:cNvSpPr>
          <p:nvPr/>
        </p:nvSpPr>
        <p:spPr>
          <a:xfrm>
            <a:off x="9048750" y="272415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第 10–12 周</a:t>
            </a:r>
          </a:p>
        </p:txBody>
      </p:sp>
      <p:sp>
        <p:nvSpPr>
          <p:cNvPr id="22" name="text-950-386"/>
          <p:cNvSpPr>
            <a:spLocks noGrp="1"/>
          </p:cNvSpPr>
          <p:nvPr/>
        </p:nvSpPr>
        <p:spPr>
          <a:xfrm>
            <a:off x="9048750" y="36766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AI 推荐与试点</a:t>
            </a:r>
          </a:p>
        </p:txBody>
      </p:sp>
      <p:sp>
        <p:nvSpPr>
          <p:cNvPr id="23" name="text-950-444"/>
          <p:cNvSpPr>
            <a:spLocks noGrp="1"/>
          </p:cNvSpPr>
          <p:nvPr/>
        </p:nvSpPr>
        <p:spPr>
          <a:xfrm>
            <a:off x="9048750" y="4229100"/>
            <a:ext cx="219075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评分解释、人工复核
真实项目规则固化</a:t>
            </a:r>
          </a:p>
        </p:txBody>
      </p:sp>
      <p:sp>
        <p:nvSpPr>
          <p:cNvPr id="24" name="rect-42-566"/>
          <p:cNvSpPr>
            <a:spLocks noGrp="1"/>
          </p:cNvSpPr>
          <p:nvPr/>
        </p:nvSpPr>
        <p:spPr>
          <a:xfrm>
            <a:off x="400050" y="5391150"/>
            <a:ext cx="11391900" cy="533400"/>
          </a:xfrm>
          <a:prstGeom prst="rect">
            <a:avLst/>
          </a:prstGeom>
          <a:solidFill>
            <a:srgbClr val="F2F4F7"/>
          </a:solidFill>
          <a:ln w="0">
            <a:solidFill>
              <a:srgbClr val="F2F4F7"/>
            </a:solidFill>
            <a:prstDash val="solid"/>
          </a:ln>
        </p:spPr>
      </p:sp>
      <p:sp>
        <p:nvSpPr>
          <p:cNvPr id="25" name="text-64-580"/>
          <p:cNvSpPr>
            <a:spLocks noGrp="1"/>
          </p:cNvSpPr>
          <p:nvPr/>
        </p:nvSpPr>
        <p:spPr>
          <a:xfrm>
            <a:off x="609600" y="5524500"/>
            <a:ext cx="10953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阶段门禁：每阶段均以真实项目样例、可复核中间产物和业务专家确认作为进入下一阶段的条件。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-42-30"/>
          <p:cNvSpPr>
            <a:spLocks noGrp="1"/>
          </p:cNvSpPr>
          <p:nvPr/>
        </p:nvSpPr>
        <p:spPr>
          <a:xfrm>
            <a:off x="400050" y="285750"/>
            <a:ext cx="514350" cy="666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" name="title-11"/>
          <p:cNvSpPr>
            <a:spLocks noGrp="1"/>
          </p:cNvSpPr>
          <p:nvPr/>
        </p:nvSpPr>
        <p:spPr>
          <a:xfrm>
            <a:off x="400050" y="476250"/>
            <a:ext cx="10668000" cy="647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建议按试点版本配置专项团队</a:t>
            </a: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400050" y="6257925"/>
            <a:ext cx="11391900" cy="286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4" name="text-42-670"/>
          <p:cNvSpPr>
            <a:spLocks noGrp="1"/>
          </p:cNvSpPr>
          <p:nvPr/>
        </p:nvSpPr>
        <p:spPr>
          <a:xfrm>
            <a:off x="400050" y="6381750"/>
            <a:ext cx="4953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基于当前 python2 样例与阶段实现</a:t>
            </a:r>
          </a:p>
        </p:txBody>
      </p:sp>
      <p:sp>
        <p:nvSpPr>
          <p:cNvPr id="5" name="rect-1066-54"/>
          <p:cNvSpPr>
            <a:spLocks noGrp="1"/>
          </p:cNvSpPr>
          <p:nvPr/>
        </p:nvSpPr>
        <p:spPr>
          <a:xfrm>
            <a:off x="10153650" y="514350"/>
            <a:ext cx="1619250" cy="323850"/>
          </a:xfrm>
          <a:prstGeom prst="rect">
            <a:avLst/>
          </a:prstGeom>
          <a:solidFill>
            <a:srgbClr val="DCEEFF"/>
          </a:solidFill>
          <a:ln w="0">
            <a:solidFill>
              <a:srgbClr val="DCEEFF"/>
            </a:solidFill>
            <a:prstDash val="solid"/>
          </a:ln>
        </p:spPr>
      </p:sp>
      <p:sp>
        <p:nvSpPr>
          <p:cNvPr id="6" name="text-1066-59"/>
          <p:cNvSpPr>
            <a:spLocks noGrp="1"/>
          </p:cNvSpPr>
          <p:nvPr/>
        </p:nvSpPr>
        <p:spPr>
          <a:xfrm>
            <a:off x="10153650" y="561975"/>
            <a:ext cx="16192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下一阶段方案</a:t>
            </a:r>
          </a:p>
        </p:txBody>
      </p:sp>
      <p:sp>
        <p:nvSpPr>
          <p:cNvPr id="7" name="text-42-146"/>
          <p:cNvSpPr>
            <a:spLocks noGrp="1"/>
          </p:cNvSpPr>
          <p:nvPr/>
        </p:nvSpPr>
        <p:spPr>
          <a:xfrm>
            <a:off x="400050" y="1390650"/>
            <a:ext cx="4857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核心投入</a:t>
            </a:r>
          </a:p>
        </p:txBody>
      </p:sp>
      <p:sp>
        <p:nvSpPr>
          <p:cNvPr id="8" name="text-42-196"/>
          <p:cNvSpPr>
            <a:spLocks noGrp="1"/>
          </p:cNvSpPr>
          <p:nvPr/>
        </p:nvSpPr>
        <p:spPr>
          <a:xfrm>
            <a:off x="400050" y="1866900"/>
            <a:ext cx="485775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5400" b="1">
                <a:solidFill>
                  <a:srgbClr val="3D8D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3 人</a:t>
            </a:r>
          </a:p>
        </p:txBody>
      </p:sp>
      <p:sp>
        <p:nvSpPr>
          <p:cNvPr id="9" name="text-42-304"/>
          <p:cNvSpPr>
            <a:spLocks noGrp="1"/>
          </p:cNvSpPr>
          <p:nvPr/>
        </p:nvSpPr>
        <p:spPr>
          <a:xfrm>
            <a:off x="400050" y="2895600"/>
            <a:ext cx="4857750" cy="1162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CAD / 几何算法 × 1
AI / 后端工程 × 1
产品或前端工程 × 1</a:t>
            </a:r>
          </a:p>
        </p:txBody>
      </p:sp>
      <p:sp>
        <p:nvSpPr>
          <p:cNvPr id="10" name="text-42-466"/>
          <p:cNvSpPr>
            <a:spLocks noGrp="1"/>
          </p:cNvSpPr>
          <p:nvPr/>
        </p:nvSpPr>
        <p:spPr>
          <a:xfrm>
            <a:off x="400050" y="4438650"/>
            <a:ext cx="4857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配合资源</a:t>
            </a:r>
          </a:p>
        </p:txBody>
      </p:sp>
      <p:sp>
        <p:nvSpPr>
          <p:cNvPr id="11" name="text-42-512"/>
          <p:cNvSpPr>
            <a:spLocks noGrp="1"/>
          </p:cNvSpPr>
          <p:nvPr/>
        </p:nvSpPr>
        <p:spPr>
          <a:xfrm>
            <a:off x="400050" y="4876800"/>
            <a:ext cx="4857750" cy="590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业务专家约 0.5 人｜测试与图纸校核约 0.5 人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5715000" y="1428750"/>
            <a:ext cx="286" cy="4038600"/>
          </a:xfrm>
          <a:prstGeom prst="straightConnector1">
            <a:avLst/>
          </a:prstGeom>
          <a:ln w="9525">
            <a:solidFill>
              <a:srgbClr val="C7CDD5"/>
            </a:solidFill>
            <a:prstDash val="solid"/>
          </a:ln>
        </p:spPr>
      </p:cxnSp>
      <p:sp>
        <p:nvSpPr>
          <p:cNvPr id="13" name="text-652-146"/>
          <p:cNvSpPr>
            <a:spLocks noGrp="1"/>
          </p:cNvSpPr>
          <p:nvPr/>
        </p:nvSpPr>
        <p:spPr>
          <a:xfrm>
            <a:off x="6210300" y="1390650"/>
            <a:ext cx="5334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10–12 周试点版目标</a:t>
            </a:r>
          </a:p>
        </p:txBody>
      </p:sp>
      <p:sp>
        <p:nvSpPr>
          <p:cNvPr id="14" name="text-652-214"/>
          <p:cNvSpPr>
            <a:spLocks noGrp="1"/>
          </p:cNvSpPr>
          <p:nvPr/>
        </p:nvSpPr>
        <p:spPr>
          <a:xfrm>
            <a:off x="6210300" y="2038350"/>
            <a:ext cx="5334000" cy="2190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111827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01  复杂墙板场景稳定运行
02  顶板基础排版与墙顶对缝
03  美观、成本、均衡多套候选方案
04  可配置指标与 AI 评分推荐
05  人工复核入口和版本化成果包</a:t>
            </a:r>
          </a:p>
        </p:txBody>
      </p:sp>
      <p:sp>
        <p:nvSpPr>
          <p:cNvPr id="15" name="rect-652-476"/>
          <p:cNvSpPr>
            <a:spLocks noGrp="1"/>
          </p:cNvSpPr>
          <p:nvPr/>
        </p:nvSpPr>
        <p:spPr>
          <a:xfrm>
            <a:off x="6210300" y="4533900"/>
            <a:ext cx="5334000" cy="9906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6" name="text-680-494"/>
          <p:cNvSpPr>
            <a:spLocks noGrp="1"/>
          </p:cNvSpPr>
          <p:nvPr/>
        </p:nvSpPr>
        <p:spPr>
          <a:xfrm>
            <a:off x="6477000" y="4705350"/>
            <a:ext cx="4857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本次需要确认</a:t>
            </a:r>
          </a:p>
        </p:txBody>
      </p:sp>
      <p:sp>
        <p:nvSpPr>
          <p:cNvPr id="17" name="text-680-532"/>
          <p:cNvSpPr>
            <a:spLocks noGrp="1"/>
          </p:cNvSpPr>
          <p:nvPr/>
        </p:nvSpPr>
        <p:spPr>
          <a:xfrm>
            <a:off x="6477000" y="5067300"/>
            <a:ext cx="4857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专项人员、真实样例图纸与业务专家投入时间</a:t>
            </a:r>
          </a:p>
        </p:txBody>
      </p:sp>
      <p:sp>
        <p:nvSpPr>
          <p:cNvPr id="18" name="text-42-608"/>
          <p:cNvSpPr>
            <a:spLocks noGrp="1"/>
          </p:cNvSpPr>
          <p:nvPr/>
        </p:nvSpPr>
        <p:spPr>
          <a:xfrm>
            <a:off x="400050" y="5791200"/>
            <a:ext cx="1114425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5F6B7A"/>
                </a:solidFill>
                <a:latin typeface="HarmonyOS Sans SC" panose="00000200000000000000" charset="-122"/>
                <a:ea typeface="HarmonyOS Sans SC" panose="00000200000000000000" charset="-122"/>
                <a:cs typeface="HarmonyOS Sans SC" panose="00000200000000000000" charset="-122"/>
              </a:defRPr>
            </a:pPr>
            <a:r>
              <a:t>范围不含：完整 BIM / Revit、MES 对接和多项目管理平台。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2114</Words>
  <Application>WPS 演示</Application>
  <PresentationFormat>Converted Presentation</PresentationFormat>
  <Paragraphs>276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HarmonyOS Sans SC</vt:lpstr>
      <vt:lpstr>微软雅黑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梓喵</cp:lastModifiedBy>
  <cp:revision>4</cp:revision>
  <dcterms:created xsi:type="dcterms:W3CDTF">2026-07-21T08:07:11Z</dcterms:created>
  <dcterms:modified xsi:type="dcterms:W3CDTF">2026-07-21T08:07:11Z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2052-12.1.26035.26035</vt:lpwstr>
  </property>
  <property fmtid="{D5CDD505-2E9C-101B-9397-08002B2CF9AE}" pid="3" name="ICV">
    <vt:lpwstr>D56372F4F4A35B7049035F6A8C9057C5_42</vt:lpwstr>
  </property>
</Properties>
</file>